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12"/>
  </p:notesMasterIdLst>
  <p:sldIdLst>
    <p:sldId id="275" r:id="rId3"/>
    <p:sldId id="381" r:id="rId4"/>
    <p:sldId id="333" r:id="rId5"/>
    <p:sldId id="377" r:id="rId6"/>
    <p:sldId id="378" r:id="rId7"/>
    <p:sldId id="376" r:id="rId8"/>
    <p:sldId id="374" r:id="rId9"/>
    <p:sldId id="379" r:id="rId10"/>
    <p:sldId id="33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322"/>
    <a:srgbClr val="FFFFFF"/>
    <a:srgbClr val="E7E4EC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0A1B5D5-9B99-4C35-A422-299274C87663}" styleName="Medium Style 1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6" autoAdjust="0"/>
    <p:restoredTop sz="94684" autoAdjust="0"/>
  </p:normalViewPr>
  <p:slideViewPr>
    <p:cSldViewPr snapToGrid="0">
      <p:cViewPr varScale="1">
        <p:scale>
          <a:sx n="81" d="100"/>
          <a:sy n="81" d="100"/>
        </p:scale>
        <p:origin x="45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uald TIEGNAN" userId="c364fa5486ec6557" providerId="LiveId" clId="{6E4F59A7-41F0-4761-B27A-087E53B1D8DC}"/>
    <pc:docChg chg="custSel modSld">
      <pc:chgData name="Romuald TIEGNAN" userId="c364fa5486ec6557" providerId="LiveId" clId="{6E4F59A7-41F0-4761-B27A-087E53B1D8DC}" dt="2026-04-22T16:53:33.116" v="40" actId="1076"/>
      <pc:docMkLst>
        <pc:docMk/>
      </pc:docMkLst>
      <pc:sldChg chg="addSp delSp modSp mod">
        <pc:chgData name="Romuald TIEGNAN" userId="c364fa5486ec6557" providerId="LiveId" clId="{6E4F59A7-41F0-4761-B27A-087E53B1D8DC}" dt="2026-04-22T16:53:33.116" v="40" actId="1076"/>
        <pc:sldMkLst>
          <pc:docMk/>
          <pc:sldMk cId="0" sldId="275"/>
        </pc:sldMkLst>
        <pc:spChg chg="mod">
          <ac:chgData name="Romuald TIEGNAN" userId="c364fa5486ec6557" providerId="LiveId" clId="{6E4F59A7-41F0-4761-B27A-087E53B1D8DC}" dt="2026-04-22T16:51:56.793" v="24" actId="20577"/>
          <ac:spMkLst>
            <pc:docMk/>
            <pc:sldMk cId="0" sldId="275"/>
            <ac:spMk id="8" creationId="{00000000-0000-0000-0000-000000000000}"/>
          </ac:spMkLst>
        </pc:spChg>
        <pc:spChg chg="del">
          <ac:chgData name="Romuald TIEGNAN" userId="c364fa5486ec6557" providerId="LiveId" clId="{6E4F59A7-41F0-4761-B27A-087E53B1D8DC}" dt="2026-04-22T16:51:40.062" v="0" actId="478"/>
          <ac:spMkLst>
            <pc:docMk/>
            <pc:sldMk cId="0" sldId="275"/>
            <ac:spMk id="10" creationId="{00000000-0000-0000-0000-000000000000}"/>
          </ac:spMkLst>
        </pc:spChg>
        <pc:spChg chg="mod">
          <ac:chgData name="Romuald TIEGNAN" userId="c364fa5486ec6557" providerId="LiveId" clId="{6E4F59A7-41F0-4761-B27A-087E53B1D8DC}" dt="2026-04-22T16:53:33.116" v="40" actId="1076"/>
          <ac:spMkLst>
            <pc:docMk/>
            <pc:sldMk cId="0" sldId="275"/>
            <ac:spMk id="11" creationId="{A49EC162-7F8D-1F49-A33F-7F8D23415C5F}"/>
          </ac:spMkLst>
        </pc:spChg>
        <pc:picChg chg="add mod">
          <ac:chgData name="Romuald TIEGNAN" userId="c364fa5486ec6557" providerId="LiveId" clId="{6E4F59A7-41F0-4761-B27A-087E53B1D8DC}" dt="2026-04-22T16:53:26.823" v="39" actId="1076"/>
          <ac:picMkLst>
            <pc:docMk/>
            <pc:sldMk cId="0" sldId="275"/>
            <ac:picMk id="12" creationId="{533F2FDA-6E0C-7A4B-7948-63A4C3444346}"/>
          </ac:picMkLst>
        </pc:picChg>
        <pc:picChg chg="del mod">
          <ac:chgData name="Romuald TIEGNAN" userId="c364fa5486ec6557" providerId="LiveId" clId="{6E4F59A7-41F0-4761-B27A-087E53B1D8DC}" dt="2026-04-22T16:53:22.140" v="36" actId="478"/>
          <ac:picMkLst>
            <pc:docMk/>
            <pc:sldMk cId="0" sldId="275"/>
            <ac:picMk id="28" creationId="{1307F100-FECD-ADAC-D5E4-ED82A508C47E}"/>
          </ac:picMkLst>
        </pc:picChg>
      </pc:sldChg>
      <pc:sldChg chg="addSp delSp modSp mod">
        <pc:chgData name="Romuald TIEGNAN" userId="c364fa5486ec6557" providerId="LiveId" clId="{6E4F59A7-41F0-4761-B27A-087E53B1D8DC}" dt="2026-04-22T16:53:12.732" v="33" actId="1076"/>
        <pc:sldMkLst>
          <pc:docMk/>
          <pc:sldMk cId="3047475705" sldId="381"/>
        </pc:sldMkLst>
        <pc:picChg chg="add mod">
          <ac:chgData name="Romuald TIEGNAN" userId="c364fa5486ec6557" providerId="LiveId" clId="{6E4F59A7-41F0-4761-B27A-087E53B1D8DC}" dt="2026-04-22T16:53:12.130" v="32" actId="1076"/>
          <ac:picMkLst>
            <pc:docMk/>
            <pc:sldMk cId="3047475705" sldId="381"/>
            <ac:picMk id="5" creationId="{39C1809D-5987-2288-E2C9-35F769999CFB}"/>
          </ac:picMkLst>
        </pc:picChg>
        <pc:picChg chg="mod">
          <ac:chgData name="Romuald TIEGNAN" userId="c364fa5486ec6557" providerId="LiveId" clId="{6E4F59A7-41F0-4761-B27A-087E53B1D8DC}" dt="2026-04-22T16:53:12.732" v="33" actId="1076"/>
          <ac:picMkLst>
            <pc:docMk/>
            <pc:sldMk cId="3047475705" sldId="381"/>
            <ac:picMk id="6" creationId="{DC7A1BD0-2E54-DC39-B953-2CDA753F0B3D}"/>
          </ac:picMkLst>
        </pc:picChg>
        <pc:picChg chg="del">
          <ac:chgData name="Romuald TIEGNAN" userId="c364fa5486ec6557" providerId="LiveId" clId="{6E4F59A7-41F0-4761-B27A-087E53B1D8DC}" dt="2026-04-22T16:52:06.015" v="27" actId="478"/>
          <ac:picMkLst>
            <pc:docMk/>
            <pc:sldMk cId="3047475705" sldId="381"/>
            <ac:picMk id="11" creationId="{E9549B52-5C56-84FF-B92B-909898A8E46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9E7A4-C850-45CE-A56B-59115C73093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DBE0E-AA0D-40CF-8FF1-49388C6FD3A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763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EA3ED-0DC6-4B9F-A471-41D9FC2C5F9E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053B-CCAE-4E80-9A28-1A406DE3C065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318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EA3ED-0DC6-4B9F-A471-41D9FC2C5F9E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053B-CCAE-4E80-9A28-1A406DE3C0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9064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EA3ED-0DC6-4B9F-A471-41D9FC2C5F9E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053B-CCAE-4E80-9A28-1A406DE3C065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94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EA3ED-0DC6-4B9F-A471-41D9FC2C5F9E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053B-CCAE-4E80-9A28-1A406DE3C0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2179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EA3ED-0DC6-4B9F-A471-41D9FC2C5F9E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053B-CCAE-4E80-9A28-1A406DE3C0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5989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EA3ED-0DC6-4B9F-A471-41D9FC2C5F9E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053B-CCAE-4E80-9A28-1A406DE3C0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4379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EA3ED-0DC6-4B9F-A471-41D9FC2C5F9E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053B-CCAE-4E80-9A28-1A406DE3C0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8778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4CEA3ED-0DC6-4B9F-A471-41D9FC2C5F9E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3B053B-CCAE-4E80-9A28-1A406DE3C0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741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EA3ED-0DC6-4B9F-A471-41D9FC2C5F9E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053B-CCAE-4E80-9A28-1A406DE3C0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704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EA3ED-0DC6-4B9F-A471-41D9FC2C5F9E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053B-CCAE-4E80-9A28-1A406DE3C0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3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EA3ED-0DC6-4B9F-A471-41D9FC2C5F9E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053B-CCAE-4E80-9A28-1A406DE3C0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2198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122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4CEA3ED-0DC6-4B9F-A471-41D9FC2C5F9E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3B053B-CCAE-4E80-9A28-1A406DE3C065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572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089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romuald.tiegnan@gmail.com" TargetMode="External"/><Relationship Id="rId2" Type="http://schemas.openxmlformats.org/officeDocument/2006/relationships/hyperlink" Target="mailto:r.tiegnan@data-univers.com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hyperlink" Target="http://www.data-univer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79968" y="660801"/>
            <a:ext cx="73152" cy="4389120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40364" y="426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defRPr/>
            </a:pPr>
            <a:r>
              <a:rPr lang="en-US" sz="1333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KICKOFF MEETING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2554" y="475989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fr-FR" sz="3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Plateforme intégrée de Gestion des </a:t>
            </a:r>
          </a:p>
          <a:p>
            <a:pPr defTabSz="1219170">
              <a:defRPr/>
            </a:pPr>
            <a:r>
              <a:rPr lang="fr-FR" sz="3200" b="1" noProof="0" dirty="0">
                <a:solidFill>
                  <a:schemeClr val="accent6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activités Minières</a:t>
            </a:r>
            <a:endParaRPr lang="fr-FR" sz="3200" noProof="0" dirty="0">
              <a:solidFill>
                <a:schemeClr val="accent6">
                  <a:lumMod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36320" y="213360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endParaRPr lang="en-US" sz="5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997051" y="1813841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fr-FR" sz="2133" b="1" dirty="0">
                <a:solidFill>
                  <a:srgbClr val="94A3B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Data Universe</a:t>
            </a:r>
            <a:endParaRPr lang="fr-FR" sz="2133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70514" y="2401958"/>
            <a:ext cx="3657600" cy="24384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296899" y="6267591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1467" dirty="0">
                <a:solidFill>
                  <a:prstClr val="white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Mars 2026</a:t>
            </a:r>
            <a:endParaRPr lang="en-US" sz="1467" dirty="0">
              <a:solidFill>
                <a:prstClr val="white"/>
              </a:solidFill>
              <a:latin typeface="Garamond" panose="02020404030301010803" pitchFamily="18" charset="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0" y="6778752"/>
            <a:ext cx="12192000" cy="79248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49EC162-7F8D-1F49-A33F-7F8D23415C5F}"/>
              </a:ext>
            </a:extLst>
          </p:cNvPr>
          <p:cNvSpPr/>
          <p:nvPr/>
        </p:nvSpPr>
        <p:spPr>
          <a:xfrm>
            <a:off x="3389137" y="3568261"/>
            <a:ext cx="5611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2200" b="1" dirty="0">
                <a:solidFill>
                  <a:srgbClr val="F2A900"/>
                </a:solidFill>
                <a:latin typeface="Garamond" panose="02020404030301010803" pitchFamily="18" charset="0"/>
                <a:ea typeface="Arial" pitchFamily="34" charset="-122"/>
                <a:cs typeface="Arial" pitchFamily="34" charset="-120"/>
              </a:rPr>
              <a:t>TIEGNAN ROMUALD
</a:t>
            </a:r>
            <a:r>
              <a:rPr lang="en-US" sz="2200" dirty="0">
                <a:solidFill>
                  <a:srgbClr val="FFFFFF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Principal Solution Development / Data Engineer
</a:t>
            </a:r>
            <a:r>
              <a:rPr lang="en-US" sz="2200" dirty="0">
                <a:solidFill>
                  <a:srgbClr val="94A3B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Email : </a:t>
            </a:r>
            <a:r>
              <a:rPr lang="fr-FR" sz="2200" dirty="0">
                <a:solidFill>
                  <a:srgbClr val="94A3B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Romuald.tiegnan@architechgroup.net </a:t>
            </a:r>
            <a:r>
              <a:rPr lang="en-US" sz="2200" dirty="0">
                <a:solidFill>
                  <a:srgbClr val="94A3B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
Tel : +225 07 67 34 47 11</a:t>
            </a:r>
            <a:endParaRPr lang="en-US" sz="2200" dirty="0">
              <a:solidFill>
                <a:prstClr val="black"/>
              </a:solidFill>
              <a:latin typeface="Garamond" panose="02020404030301010803" pitchFamily="18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33F2FDA-6E0C-7A4B-7948-63A4C3444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494" y="285509"/>
            <a:ext cx="1520067" cy="8011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7E4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8AF81B-3E94-226F-870D-CC6E3168F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4">
            <a:extLst>
              <a:ext uri="{FF2B5EF4-FFF2-40B4-BE49-F238E27FC236}">
                <a16:creationId xmlns:a16="http://schemas.microsoft.com/office/drawing/2014/main" id="{30F28988-EBEA-92F8-82AA-00BA19EC59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noProof="0" dirty="0"/>
          </a:p>
        </p:txBody>
      </p:sp>
      <p:sp>
        <p:nvSpPr>
          <p:cNvPr id="20" name="AutoShape 6">
            <a:extLst>
              <a:ext uri="{FF2B5EF4-FFF2-40B4-BE49-F238E27FC236}">
                <a16:creationId xmlns:a16="http://schemas.microsoft.com/office/drawing/2014/main" id="{6DFEE1F5-2FBA-525B-5EC3-007BA999DC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694582" cy="2694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noProof="0" dirty="0"/>
          </a:p>
        </p:txBody>
      </p:sp>
      <p:sp>
        <p:nvSpPr>
          <p:cNvPr id="21" name="AutoShape 8">
            <a:extLst>
              <a:ext uri="{FF2B5EF4-FFF2-40B4-BE49-F238E27FC236}">
                <a16:creationId xmlns:a16="http://schemas.microsoft.com/office/drawing/2014/main" id="{2600DBCA-5306-7F1A-A573-A85A37DDED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noProof="0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24678E27-C196-0E32-667B-2ECF4AEBFD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AD132CD-3095-CDA8-C43B-2F2CBD2F7A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7A1BD0-2E54-DC39-B953-2CDA753F0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560" y="89757"/>
            <a:ext cx="8634922" cy="6456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5666AA-BD61-86C8-88C2-407586848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13" y="1438275"/>
            <a:ext cx="2443161" cy="501015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9C1809D-5987-2288-E2C9-35F769999C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54" y="187463"/>
            <a:ext cx="2131460" cy="112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475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68AB64-FFF6-B3F2-19F1-8C54EFD4F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FB5D0-03D0-C645-9A3D-40EF3644E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465614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32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la plateforme MineXpert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463421-BF0D-4B95-5F43-47E280160C25}"/>
              </a:ext>
            </a:extLst>
          </p:cNvPr>
          <p:cNvSpPr txBox="1"/>
          <p:nvPr/>
        </p:nvSpPr>
        <p:spPr>
          <a:xfrm>
            <a:off x="61708" y="413916"/>
            <a:ext cx="121302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MineXpert </a:t>
            </a:r>
            <a:r>
              <a:rPr kumimoji="0" lang="fr-FR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est une plateforme intégrée, complète, évolutive et sécurisée, composée de plusieurs applications métiers dédiées à la digitalisation et à la dématérialisation des activités minières et industrielles.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D6CD224-122D-777D-3023-6BC18781A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123021"/>
              </p:ext>
            </p:extLst>
          </p:nvPr>
        </p:nvGraphicFramePr>
        <p:xfrm>
          <a:off x="144902" y="1243962"/>
          <a:ext cx="11616680" cy="437667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31380">
                  <a:extLst>
                    <a:ext uri="{9D8B030D-6E8A-4147-A177-3AD203B41FA5}">
                      <a16:colId xmlns:a16="http://schemas.microsoft.com/office/drawing/2014/main" val="2663381476"/>
                    </a:ext>
                  </a:extLst>
                </a:gridCol>
                <a:gridCol w="5747546">
                  <a:extLst>
                    <a:ext uri="{9D8B030D-6E8A-4147-A177-3AD203B41FA5}">
                      <a16:colId xmlns:a16="http://schemas.microsoft.com/office/drawing/2014/main" val="2245267319"/>
                    </a:ext>
                  </a:extLst>
                </a:gridCol>
                <a:gridCol w="3037754">
                  <a:extLst>
                    <a:ext uri="{9D8B030D-6E8A-4147-A177-3AD203B41FA5}">
                      <a16:colId xmlns:a16="http://schemas.microsoft.com/office/drawing/2014/main" val="3193710192"/>
                    </a:ext>
                  </a:extLst>
                </a:gridCol>
              </a:tblGrid>
              <a:tr h="505715"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Principaux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Utilisation possible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119483"/>
                  </a:ext>
                </a:extLst>
              </a:tr>
              <a:tr h="8109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0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Ressources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Humaines (HRMS)</a:t>
                      </a:r>
                    </a:p>
                    <a:p>
                      <a:pPr algn="l"/>
                      <a:endParaRPr lang="fr-FR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fr-FR" sz="18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Répertoire des employés (intégration, mobilité, séparation.)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de gestion des paiements 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Suivi des travailleurs journaliers (enregistrement,  paiement)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Suivi des demandes de congés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objectifs et de la performance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évaluations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électronique des documents (GED)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Tableau de bord analytiques 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Génération de rapports officiels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Chaque société minière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Niveau national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Autres entités publiques ou privées</a:t>
                      </a:r>
                    </a:p>
                    <a:p>
                      <a:endParaRPr lang="fr-FR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74504"/>
                  </a:ext>
                </a:extLst>
              </a:tr>
              <a:tr h="971832">
                <a:tc>
                  <a:txBody>
                    <a:bodyPr/>
                    <a:lstStyle/>
                    <a:p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 de Gestion des formations internes</a:t>
                      </a:r>
                    </a:p>
                    <a:p>
                      <a:endParaRPr lang="fr-FR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formations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Suivi des formations par poste de travail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Planification des sessions de formation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Suivi des évaluations  (tests d’aptitude post-formation) 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Génération automatique des attestations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Suivi de la conformité réglementaire des employés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Chaque société minière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fr-FR" sz="1600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fr-FR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690463"/>
                  </a:ext>
                </a:extLst>
              </a:tr>
            </a:tbl>
          </a:graphicData>
        </a:graphic>
      </p:graphicFrame>
      <p:pic>
        <p:nvPicPr>
          <p:cNvPr id="15" name="Picture 14" descr="A close up of a black background&#10;&#10;AI-generated content may be incorrect.">
            <a:extLst>
              <a:ext uri="{FF2B5EF4-FFF2-40B4-BE49-F238E27FC236}">
                <a16:creationId xmlns:a16="http://schemas.microsoft.com/office/drawing/2014/main" id="{00DF85CB-4D00-4BE0-1834-9CCA6DC1E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16" y="2997762"/>
            <a:ext cx="1516062" cy="722591"/>
          </a:xfrm>
          <a:prstGeom prst="rect">
            <a:avLst/>
          </a:prstGeom>
        </p:spPr>
      </p:pic>
      <p:pic>
        <p:nvPicPr>
          <p:cNvPr id="16" name="Picture 1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8D13931-2799-79EA-DF1A-CCEA3DA47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9" t="34765" r="9564" b="35378"/>
          <a:stretch>
            <a:fillRect/>
          </a:stretch>
        </p:blipFill>
        <p:spPr>
          <a:xfrm>
            <a:off x="1220192" y="4832428"/>
            <a:ext cx="1565847" cy="59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862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834DDC1-44E9-4064-BDC3-6C74B024D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533FB-6171-C56C-7863-0E7638232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465614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32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la plateforme Mine Xpert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4CB333F-0321-0C04-E58C-01BD6096C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986748"/>
              </p:ext>
            </p:extLst>
          </p:nvPr>
        </p:nvGraphicFramePr>
        <p:xfrm>
          <a:off x="135938" y="607468"/>
          <a:ext cx="11616680" cy="459003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31380">
                  <a:extLst>
                    <a:ext uri="{9D8B030D-6E8A-4147-A177-3AD203B41FA5}">
                      <a16:colId xmlns:a16="http://schemas.microsoft.com/office/drawing/2014/main" val="2663381476"/>
                    </a:ext>
                  </a:extLst>
                </a:gridCol>
                <a:gridCol w="5747546">
                  <a:extLst>
                    <a:ext uri="{9D8B030D-6E8A-4147-A177-3AD203B41FA5}">
                      <a16:colId xmlns:a16="http://schemas.microsoft.com/office/drawing/2014/main" val="2245267319"/>
                    </a:ext>
                  </a:extLst>
                </a:gridCol>
                <a:gridCol w="3037754">
                  <a:extLst>
                    <a:ext uri="{9D8B030D-6E8A-4147-A177-3AD203B41FA5}">
                      <a16:colId xmlns:a16="http://schemas.microsoft.com/office/drawing/2014/main" val="3193710192"/>
                    </a:ext>
                  </a:extLst>
                </a:gridCol>
              </a:tblGrid>
              <a:tr h="505715"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Principaux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Déploiement éventuel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119483"/>
                  </a:ext>
                </a:extLst>
              </a:tr>
              <a:tr h="8109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b="0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activités Santé &amp; Sécurité et Environnement (HSEC) - ISO 14001 / ISO 45001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b="0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b="0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Suivi des activités de prévention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Suivi et gestion des incidents et investigations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audits selon ISO 19011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risques (risques opérationnels, chimiques)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EPI (Equipement de Protection Individuelle)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documentaire &amp; Communication Santé &amp; Sécurité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 la Conformité réglementaire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environnementale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 14001 </a:t>
                      </a:r>
                      <a:endParaRPr lang="fr-FR" sz="1600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Assistant IA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Tableau de bord analytique et rapports institutionnels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fr-FR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fr-FR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Chaque société minière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SOPAMIB </a:t>
                      </a:r>
                      <a:r>
                        <a:rPr lang="fr-FR" sz="1200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(centraliser le suivi Santé &amp; Sécurité des différentes sociétés minières du Publique)</a:t>
                      </a:r>
                    </a:p>
                    <a:p>
                      <a:endParaRPr lang="fr-FR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74504"/>
                  </a:ext>
                </a:extLst>
              </a:tr>
              <a:tr h="9718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Gestion du carburant des parcs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b="0" kern="1200" noProof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b="0" kern="1200" noProof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équipements et engins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chauffeurs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Suivi des approvisionnements des réservoirs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Suivi des ravitaillements à la pompe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Analyse de conformité et détection des anomalies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Tableau de bord analytique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Chaque société minière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National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SOPAMIB</a:t>
                      </a:r>
                    </a:p>
                    <a:p>
                      <a:endParaRPr lang="fr-FR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69046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EFDE397-BDDA-FCA5-0A10-2971E74DA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39" y="2865874"/>
            <a:ext cx="1953506" cy="509611"/>
          </a:xfrm>
          <a:prstGeom prst="rect">
            <a:avLst/>
          </a:prstGeom>
        </p:spPr>
      </p:pic>
      <p:pic>
        <p:nvPicPr>
          <p:cNvPr id="4" name="Picture 3" descr="A logo with text on it">
            <a:extLst>
              <a:ext uri="{FF2B5EF4-FFF2-40B4-BE49-F238E27FC236}">
                <a16:creationId xmlns:a16="http://schemas.microsoft.com/office/drawing/2014/main" id="{528147C6-BB69-1300-BE0D-A3A745D031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42" t="12828" r="29141" b="21044"/>
          <a:stretch>
            <a:fillRect/>
          </a:stretch>
        </p:blipFill>
        <p:spPr>
          <a:xfrm rot="16200000">
            <a:off x="1095477" y="3531625"/>
            <a:ext cx="630108" cy="197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619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824F54-087B-4E89-770F-E934B9896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0610C-0365-2C3E-8B10-B708A51D3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465614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32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la plateforme Mine Xpert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F27A0EB-6514-7F3F-D03E-47CF3A766E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768818"/>
              </p:ext>
            </p:extLst>
          </p:nvPr>
        </p:nvGraphicFramePr>
        <p:xfrm>
          <a:off x="82150" y="472998"/>
          <a:ext cx="11616680" cy="605307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31380">
                  <a:extLst>
                    <a:ext uri="{9D8B030D-6E8A-4147-A177-3AD203B41FA5}">
                      <a16:colId xmlns:a16="http://schemas.microsoft.com/office/drawing/2014/main" val="2663381476"/>
                    </a:ext>
                  </a:extLst>
                </a:gridCol>
                <a:gridCol w="6472517">
                  <a:extLst>
                    <a:ext uri="{9D8B030D-6E8A-4147-A177-3AD203B41FA5}">
                      <a16:colId xmlns:a16="http://schemas.microsoft.com/office/drawing/2014/main" val="2245267319"/>
                    </a:ext>
                  </a:extLst>
                </a:gridCol>
                <a:gridCol w="2312783">
                  <a:extLst>
                    <a:ext uri="{9D8B030D-6E8A-4147-A177-3AD203B41FA5}">
                      <a16:colId xmlns:a16="http://schemas.microsoft.com/office/drawing/2014/main" val="3193710192"/>
                    </a:ext>
                  </a:extLst>
                </a:gridCol>
              </a:tblGrid>
              <a:tr h="505715"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Principaux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Déploiement éventuel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119483"/>
                  </a:ext>
                </a:extLst>
              </a:tr>
              <a:tr h="8109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0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 la production et des ventes d’Or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0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0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Suivi des prévisions de production d’Or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Suivi de la production journalière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Digitalisation des activités d’exportation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exportations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Suivi des prix de vente en temps réel (LBMA)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Suivi des conversions de devises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raffineurs, acheteurs nationaux et internationaux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Suivi de la collecte des taxes et royalties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activités d’orpaillage artisanal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Suivi financier des ventes d’Or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Tableau de bord d’analyse et de suivi en temps réel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fr-FR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fr-FR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Chaque société minière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Niveau national </a:t>
                      </a:r>
                      <a:r>
                        <a:rPr lang="fr-FR" sz="1200" i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(consolidation de la production et des ventes d’Or)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v"/>
                      </a:pPr>
                      <a:r>
                        <a:rPr lang="fr-FR" sz="1800" kern="1200" noProof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SOPAMIB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74504"/>
                  </a:ext>
                </a:extLst>
              </a:tr>
              <a:tr h="9718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Système Intégré de gestion du Contenu Local ( SICLO)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0" kern="1200" noProof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0" kern="1200" noProof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Plateforme centralisée de publications des offres d’emploi et des appels d’offres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Registre national des entreprises locales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règles et engagements sur le Contenu local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Tableau de bord suivi du score de conformité au contenu local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Certification « Entreprise Locale Conforme »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sociétés extractives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Suivi des achats locaux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Transfert de compétences &amp; formations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projets communautaires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Tableau de bord décisionnel &amp; reporting national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fr-FR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fr-FR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fr-FR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Autorités Burkinabé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690463"/>
                  </a:ext>
                </a:extLst>
              </a:tr>
            </a:tbl>
          </a:graphicData>
        </a:graphic>
      </p:graphicFrame>
      <p:pic>
        <p:nvPicPr>
          <p:cNvPr id="5" name="Picture 4" descr="A gold bar and graph logo">
            <a:extLst>
              <a:ext uri="{FF2B5EF4-FFF2-40B4-BE49-F238E27FC236}">
                <a16:creationId xmlns:a16="http://schemas.microsoft.com/office/drawing/2014/main" id="{8AF7696B-E2EE-1CC1-9546-939F0DC5C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0" t="25028" r="16998" b="20668"/>
          <a:stretch>
            <a:fillRect/>
          </a:stretch>
        </p:blipFill>
        <p:spPr>
          <a:xfrm>
            <a:off x="664062" y="2177532"/>
            <a:ext cx="1720549" cy="1460749"/>
          </a:xfrm>
          <a:prstGeom prst="rect">
            <a:avLst/>
          </a:prstGeom>
        </p:spPr>
      </p:pic>
      <p:pic>
        <p:nvPicPr>
          <p:cNvPr id="10" name="Picture 9" descr="A logo with a star and colorful arrows">
            <a:extLst>
              <a:ext uri="{FF2B5EF4-FFF2-40B4-BE49-F238E27FC236}">
                <a16:creationId xmlns:a16="http://schemas.microsoft.com/office/drawing/2014/main" id="{D4F32586-9CD3-75A4-DFA6-F39868486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48" y="4465917"/>
            <a:ext cx="2498914" cy="16659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8199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AD140F-FF2B-4C43-2117-6A6CECE84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28793-BF3E-A2BD-7192-419D60604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465614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32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la plateforme MineXpert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181EA5-81BB-B861-5F0E-7AC8A49AF3A9}"/>
              </a:ext>
            </a:extLst>
          </p:cNvPr>
          <p:cNvSpPr txBox="1"/>
          <p:nvPr/>
        </p:nvSpPr>
        <p:spPr>
          <a:xfrm>
            <a:off x="61708" y="413916"/>
            <a:ext cx="121302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MineXpert, </a:t>
            </a:r>
            <a:r>
              <a:rPr kumimoji="0" lang="fr-FR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c’est aussi un ensemble d’applications de gestion complètes et interopérables permettant aux sociétés minières de bénéficier de la puissance des outils technologiques et d’améliorer leur performance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409D96C-D117-E365-0139-AAED8EC6C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100055"/>
              </p:ext>
            </p:extLst>
          </p:nvPr>
        </p:nvGraphicFramePr>
        <p:xfrm>
          <a:off x="50180" y="1102707"/>
          <a:ext cx="11616680" cy="565330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31380">
                  <a:extLst>
                    <a:ext uri="{9D8B030D-6E8A-4147-A177-3AD203B41FA5}">
                      <a16:colId xmlns:a16="http://schemas.microsoft.com/office/drawing/2014/main" val="2663381476"/>
                    </a:ext>
                  </a:extLst>
                </a:gridCol>
                <a:gridCol w="8785300">
                  <a:extLst>
                    <a:ext uri="{9D8B030D-6E8A-4147-A177-3AD203B41FA5}">
                      <a16:colId xmlns:a16="http://schemas.microsoft.com/office/drawing/2014/main" val="2245267319"/>
                    </a:ext>
                  </a:extLst>
                </a:gridCol>
              </a:tblGrid>
              <a:tr h="505715"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Principaux modules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119483"/>
                  </a:ext>
                </a:extLst>
              </a:tr>
              <a:tr h="810984">
                <a:tc>
                  <a:txBody>
                    <a:bodyPr/>
                    <a:lstStyle/>
                    <a:p>
                      <a:pPr algn="l"/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TimeSheet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Dématérialisation des feuilles de temps des employés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Automatisation des calculs des heures supplémentaires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Intégration avec l’application de paiement des salaires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74504"/>
                  </a:ext>
                </a:extLst>
              </a:tr>
              <a:tr h="971832">
                <a:tc>
                  <a:txBody>
                    <a:bodyPr/>
                    <a:lstStyle/>
                    <a:p>
                      <a:r>
                        <a:rPr lang="fr-FR" sz="1800" b="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&amp; Mobile</a:t>
                      </a:r>
                      <a:endParaRPr lang="fr-FR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rotations des équipes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convois et des manifestes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du camp (gestion des chambres, demande de travaux..)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chauffeurs et des équipes de ménage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du Restaurant (Menu, Accès,  Facturation..)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 voyages Expatriés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690463"/>
                  </a:ext>
                </a:extLst>
              </a:tr>
              <a:tr h="971832">
                <a:tc>
                  <a:txBody>
                    <a:bodyPr/>
                    <a:lstStyle/>
                    <a:p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Accès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Surveillance des accès aux zones sensibles (Gold Room, restaurant, 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bons de sortie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biens hors site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084792"/>
                  </a:ext>
                </a:extLst>
              </a:tr>
              <a:tr h="971832">
                <a:tc>
                  <a:txBody>
                    <a:bodyPr/>
                    <a:lstStyle/>
                    <a:p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Cliniques et</a:t>
                      </a:r>
                    </a:p>
                    <a:p>
                      <a:r>
                        <a:rPr lang="fr-FR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Pharmacies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patients et du Dossier Médical Electronique (DME)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demandes de rendez-vous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consultations et visites médical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Alcotest &amp; Drogues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Suivi des prescriptions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des stocks pharmaceutiques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Suivi financier et budgétaire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219773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1032BB92-2E7C-3BC1-2A75-DFB41BDFD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456" y="1727154"/>
            <a:ext cx="1024217" cy="554784"/>
          </a:xfrm>
          <a:prstGeom prst="rect">
            <a:avLst/>
          </a:prstGeom>
        </p:spPr>
      </p:pic>
      <p:pic>
        <p:nvPicPr>
          <p:cNvPr id="16" name="Picture 15" descr="A logo with a tent and arrows">
            <a:extLst>
              <a:ext uri="{FF2B5EF4-FFF2-40B4-BE49-F238E27FC236}">
                <a16:creationId xmlns:a16="http://schemas.microsoft.com/office/drawing/2014/main" id="{66E5C65B-1203-7D4A-2E9C-1BDDE2C2E1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87" t="31905" r="13607" b="29879"/>
          <a:stretch>
            <a:fillRect/>
          </a:stretch>
        </p:blipFill>
        <p:spPr>
          <a:xfrm>
            <a:off x="407864" y="3067019"/>
            <a:ext cx="1901156" cy="681196"/>
          </a:xfrm>
          <a:prstGeom prst="rect">
            <a:avLst/>
          </a:prstGeom>
        </p:spPr>
      </p:pic>
      <p:pic>
        <p:nvPicPr>
          <p:cNvPr id="17" name="Picture 16" descr="A logo with text and a shield&#10;&#10;AI-generated content may be incorrect.">
            <a:extLst>
              <a:ext uri="{FF2B5EF4-FFF2-40B4-BE49-F238E27FC236}">
                <a16:creationId xmlns:a16="http://schemas.microsoft.com/office/drawing/2014/main" id="{A6E5D651-4986-737E-BB7A-84E28E2FC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703" y="4345834"/>
            <a:ext cx="1254928" cy="4586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54006F-0411-D742-6ECF-B456D98D33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14" y="5826028"/>
            <a:ext cx="2136815" cy="67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999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07181F9-0B2A-8C2E-E7A5-936BFF0BF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4489C-E42B-8289-953C-5E80F3177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465614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32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du projet : Opportunités majeures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4E08A3-95DD-08EA-97ED-A53DF212D3CD}"/>
              </a:ext>
            </a:extLst>
          </p:cNvPr>
          <p:cNvSpPr txBox="1"/>
          <p:nvPr/>
        </p:nvSpPr>
        <p:spPr>
          <a:xfrm>
            <a:off x="152400" y="574738"/>
            <a:ext cx="11172825" cy="203132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Opportunité 1: 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Les sociétés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0" lang="fr-FR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inières</a:t>
            </a:r>
            <a:r>
              <a:rPr kumimoji="0" lang="fr-FR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investissent massivement et de manière obligatoire dans des plateformes de gestion Santé &amp; Sécurité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fr-FR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conformément aux exigences des normes ISO 45001 et ISO 9001.</a:t>
            </a:r>
          </a:p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b="1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Défis:</a:t>
            </a:r>
          </a:p>
          <a:p>
            <a:pPr marL="800100" lvl="1" indent="-342900">
              <a:buFont typeface="Wingdings" panose="05000000000000000000" pitchFamily="2" charset="2"/>
              <a:buChar char="ü"/>
              <a:defRPr/>
            </a:pPr>
            <a:r>
              <a:rPr lang="fr-FR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Permettre aux entreprises locales disposant d’expertise technologique d’accéder à ce marché.</a:t>
            </a:r>
          </a:p>
          <a:p>
            <a:pPr marL="800100" lvl="1" indent="-342900">
              <a:buFont typeface="Wingdings" panose="05000000000000000000" pitchFamily="2" charset="2"/>
              <a:buChar char="ü"/>
              <a:defRPr/>
            </a:pPr>
            <a:r>
              <a:rPr lang="fr-FR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Offrir aux sociétés locales l’opportunité de proposer des solutions adaptées aux mines nationales et internationales.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2C39AC-01E2-2D14-5D3C-72BBE72FBE9A}"/>
              </a:ext>
            </a:extLst>
          </p:cNvPr>
          <p:cNvSpPr txBox="1"/>
          <p:nvPr/>
        </p:nvSpPr>
        <p:spPr>
          <a:xfrm>
            <a:off x="209550" y="2914713"/>
            <a:ext cx="11172825" cy="3416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fr-FR" b="1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Opportunité 2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Burkina Faso </a:t>
            </a:r>
            <a:r>
              <a:rPr kumimoji="0" lang="fr-FR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 tant qu’Etat souverain ne dispose pas encore :</a:t>
            </a:r>
          </a:p>
          <a:p>
            <a:pPr marL="1081088" lvl="3" indent="-452438" algn="just">
              <a:buFont typeface="Wingdings" panose="05000000000000000000" pitchFamily="2" charset="2"/>
              <a:buChar char="§"/>
              <a:defRPr/>
            </a:pPr>
            <a:r>
              <a:rPr kumimoji="0" lang="fr-FR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d’une plateforme nationale centralisée permettant de consolider la production d’or de l’ensemble des acteurs miniers;</a:t>
            </a:r>
          </a:p>
          <a:p>
            <a:pPr marL="1081088" lvl="3" indent="-452438" algn="just">
              <a:buFont typeface="Wingdings" panose="05000000000000000000" pitchFamily="2" charset="2"/>
              <a:buChar char="§"/>
              <a:defRPr/>
            </a:pPr>
            <a:r>
              <a:rPr lang="fr-FR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d’une plateforme de suivi de la traçabilité des ventes de l’or.</a:t>
            </a:r>
          </a:p>
          <a:p>
            <a:pPr marL="1081088" lvl="3" indent="-452438" algn="just">
              <a:buFont typeface="Wingdings" panose="05000000000000000000" pitchFamily="2" charset="2"/>
              <a:buChar char="§"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d’un système intégré de suivi et de contrôle du respect des lois et règlementations sur le Contenu Local</a:t>
            </a:r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 algn="just">
              <a:buFont typeface="Wingdings" panose="05000000000000000000" pitchFamily="2" charset="2"/>
              <a:buChar char="Ø"/>
              <a:defRPr/>
            </a:pPr>
            <a:endParaRPr lang="fr-FR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fr-FR" b="1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Défis</a:t>
            </a:r>
          </a:p>
          <a:p>
            <a:pPr marL="342900" indent="-342900" algn="just">
              <a:buFont typeface="Wingdings" panose="05000000000000000000" pitchFamily="2" charset="2"/>
              <a:buChar char="ü"/>
              <a:defRPr/>
            </a:pPr>
            <a:r>
              <a:rPr lang="fr-FR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Mettre à disposition des Autorités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Burkinabé une plateforme </a:t>
            </a:r>
            <a:r>
              <a:rPr lang="fr-FR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suivi et de contrôle de la production et de la vente de l’or</a:t>
            </a:r>
          </a:p>
          <a:p>
            <a:pPr marL="342900" indent="-342900" algn="just">
              <a:buFont typeface="Wingdings" panose="05000000000000000000" pitchFamily="2" charset="2"/>
              <a:buChar char="ü"/>
              <a:defRPr/>
            </a:pPr>
            <a:r>
              <a:rPr lang="fr-FR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Réduire les risques de perte et/ou de détournements.</a:t>
            </a:r>
          </a:p>
          <a:p>
            <a:pPr marL="342900" indent="-342900" algn="just">
              <a:buFont typeface="Wingdings" panose="05000000000000000000" pitchFamily="2" charset="2"/>
              <a:buChar char="ü"/>
              <a:defRPr/>
            </a:pPr>
            <a:r>
              <a:rPr lang="fr-FR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Améliorer la collecte des taxes et impôts liés à l’exploitation et à la commercialisation de l’or.</a:t>
            </a:r>
          </a:p>
        </p:txBody>
      </p:sp>
    </p:spTree>
    <p:extLst>
      <p:ext uri="{BB962C8B-B14F-4D97-AF65-F5344CB8AC3E}">
        <p14:creationId xmlns:p14="http://schemas.microsoft.com/office/powerpoint/2010/main" val="4060377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73D93C6-B767-344C-35B7-E583A076A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8287E-DBF8-A1DE-ADFB-91EE66862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465614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32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Etapes suivantes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6850B9-B6CE-EE50-03E9-2BCB34CFC572}"/>
              </a:ext>
            </a:extLst>
          </p:cNvPr>
          <p:cNvSpPr txBox="1"/>
          <p:nvPr/>
        </p:nvSpPr>
        <p:spPr>
          <a:xfrm>
            <a:off x="0" y="627846"/>
            <a:ext cx="111728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sz="3200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Mission de cadrage </a:t>
            </a:r>
          </a:p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fr-FR" sz="3200" i="0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fr-F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Collecte des besoins spécifiques des acteurs.</a:t>
            </a:r>
          </a:p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fr-FR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sz="3200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Mise en œuvre et personnalisation des modules</a:t>
            </a:r>
          </a:p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fr-FR" sz="3200" i="0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fr-F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Déploiement progressif</a:t>
            </a: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lang="fr-FR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sz="3200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Supp</a:t>
            </a:r>
            <a:r>
              <a:rPr lang="fr-FR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</a:t>
            </a:r>
            <a:r>
              <a:rPr lang="fr-F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accompagnement continu</a:t>
            </a:r>
            <a:endParaRPr lang="fr-FR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208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013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FCD4F-A113-6D42-B463-899B9B5FB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E1FB13-2B12-4D11-D24D-36F298C7DA7F}"/>
              </a:ext>
            </a:extLst>
          </p:cNvPr>
          <p:cNvSpPr txBox="1"/>
          <p:nvPr/>
        </p:nvSpPr>
        <p:spPr>
          <a:xfrm>
            <a:off x="190333" y="4912221"/>
            <a:ext cx="11885552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3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Universe</a:t>
            </a:r>
          </a:p>
          <a:p>
            <a:pPr algn="ctr"/>
            <a:r>
              <a:rPr lang="en-GB" sz="20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Solution &amp; Data Management</a:t>
            </a:r>
          </a:p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r.tiegnan@data-univers.com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romuald.tiegnan@gmail.com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www.data-univers.com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+226 77 96 35 25 / +225 07 67 34 47 11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4AF9AD-1968-235C-3BFC-0CA1F9B213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2771" y="219814"/>
            <a:ext cx="7712188" cy="433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80901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9348</TotalTime>
  <Words>950</Words>
  <Application>Microsoft Office PowerPoint</Application>
  <PresentationFormat>Grand écran</PresentationFormat>
  <Paragraphs>167</Paragraphs>
  <Slides>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9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Garamond</vt:lpstr>
      <vt:lpstr>Georgia</vt:lpstr>
      <vt:lpstr>Times New Roman</vt:lpstr>
      <vt:lpstr>Wingdings</vt:lpstr>
      <vt:lpstr>Retrospect</vt:lpstr>
      <vt:lpstr>Office Theme</vt:lpstr>
      <vt:lpstr>Présentation PowerPoint</vt:lpstr>
      <vt:lpstr>Présentation PowerPoint</vt:lpstr>
      <vt:lpstr>Présentation de la plateforme MineXpert</vt:lpstr>
      <vt:lpstr>Présentation de la plateforme Mine Xpert</vt:lpstr>
      <vt:lpstr>Présentation de la plateforme Mine Xpert</vt:lpstr>
      <vt:lpstr>Présentation de la plateforme MineXpert</vt:lpstr>
      <vt:lpstr>Présentation du projet : Opportunités majeures</vt:lpstr>
      <vt:lpstr>Etapes suivantes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TIEGNAN, ROMUALD</dc:creator>
  <cp:lastModifiedBy>TIEGNAN, ROMUALD</cp:lastModifiedBy>
  <cp:revision>13</cp:revision>
  <dcterms:created xsi:type="dcterms:W3CDTF">2023-04-18T17:18:04Z</dcterms:created>
  <dcterms:modified xsi:type="dcterms:W3CDTF">2026-04-22T16:53:35Z</dcterms:modified>
</cp:coreProperties>
</file>